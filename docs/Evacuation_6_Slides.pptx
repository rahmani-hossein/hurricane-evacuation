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3FCDDC"/>
                </a:solidFill>
              </a:defRPr>
            </a:pPr>
            <a:r>
              <a:t>01 /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7FAFF"/>
                </a:solidFill>
              </a:defRPr>
            </a:pPr>
            <a:r>
              <a:t>Evacuation readiness, before the storm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9BDD4"/>
                </a:solidFill>
              </a:defRPr>
            </a:pPr>
            <a:r>
              <a:t>A planning assistant for emergency managers in Lee and Miami-Dade counties, Florida.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D4"/>
                </a:solidFill>
              </a:defRPr>
            </a:pPr>
            <a:r>
              <a:t>SOURCE: github.com/rahmani-hossein/hurricane-evacuation  |  main @ f2316be3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830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3FCDDC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520440" cy="3246120"/>
          </a:xfrm>
          <a:prstGeom prst="roundRect">
            <a:avLst/>
          </a:prstGeom>
          <a:solidFill>
            <a:srgbClr val="16273F"/>
          </a:solidFill>
          <a:ln>
            <a:solidFill>
              <a:srgbClr val="FFB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04288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BD5E"/>
                </a:solidFill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07208"/>
            <a:ext cx="3118104" cy="253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7FAFF"/>
                </a:solidFill>
              </a:defRPr>
            </a:pPr>
            <a:r>
              <a:t>Which communities may struggle to leave?</a:t>
            </a:r>
          </a:p>
          <a:p>
            <a:pPr>
              <a:spcAft>
                <a:spcPts val="900"/>
              </a:spcAft>
              <a:defRPr sz="1800" b="0">
                <a:solidFill>
                  <a:srgbClr val="F7FAFF"/>
                </a:solidFill>
              </a:defRPr>
            </a:pPr>
            <a:r>
              <a:t>Which shelters are suitable?</a:t>
            </a:r>
          </a:p>
          <a:p>
            <a:pPr>
              <a:spcAft>
                <a:spcPts val="900"/>
              </a:spcAft>
              <a:defRPr sz="1800" b="0">
                <a:solidFill>
                  <a:srgbClr val="F7FAFF"/>
                </a:solidFill>
              </a:defRPr>
            </a:pPr>
            <a:r>
              <a:t>What must be verified before hurricane season?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148840"/>
            <a:ext cx="3520440" cy="3246120"/>
          </a:xfrm>
          <a:prstGeom prst="roundRect">
            <a:avLst/>
          </a:prstGeom>
          <a:solidFill>
            <a:srgbClr val="16273F"/>
          </a:solidFill>
          <a:ln>
            <a:solidFill>
              <a:srgbClr val="3F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304288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FCDDC"/>
                </a:solidFill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807208"/>
            <a:ext cx="3118104" cy="253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7FAFF"/>
                </a:solidFill>
              </a:defRPr>
            </a:pPr>
            <a:r>
              <a:t>AI-assisted risk ranking + shelter screening + targeted verification + an actionable readiness brief.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148840"/>
            <a:ext cx="3520440" cy="3246120"/>
          </a:xfrm>
          <a:prstGeom prst="roundRect">
            <a:avLst/>
          </a:prstGeom>
          <a:solidFill>
            <a:srgbClr val="16273F"/>
          </a:solidFill>
          <a:ln>
            <a:solidFill>
              <a:srgbClr val="57D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304288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57D4A7"/>
                </a:solidFill>
              </a:defRPr>
            </a:pPr>
            <a:r>
              <a:t>THE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807208"/>
            <a:ext cx="3118104" cy="253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7FAFF"/>
                </a:solidFill>
              </a:defRPr>
            </a:pPr>
            <a:r>
              <a:t>Prioritized tracts, candidate destinations, missing-data flags and concrete inspection / transit 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2414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BD5E"/>
                </a:solidFill>
              </a:defRPr>
            </a:pPr>
            <a:r>
              <a:t>Planning-time decision support — not a live evacuation dispatch or shelter-opening 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3FCDDC"/>
                </a:solidFill>
              </a:defRPr>
            </a:pPr>
            <a:r>
              <a:t>02 /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7FAFF"/>
                </a:solidFill>
              </a:defRPr>
            </a:pPr>
            <a:r>
              <a:t>The architecture: two evidence streams, one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9BDD4"/>
                </a:solidFill>
              </a:defRPr>
            </a:pPr>
            <a:r>
              <a:t>Static administrative data establishes the baseline; dynamic grounding checks what may have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D4"/>
                </a:solidFill>
              </a:defRPr>
            </a:pPr>
            <a:r>
              <a:t>SOURCE: github.com/rahmani-hossein/hurricane-evacuation  |  main @ f2316be3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830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3FCDDC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93392"/>
            <a:ext cx="3337560" cy="1920240"/>
          </a:xfrm>
          <a:prstGeom prst="roundRect">
            <a:avLst/>
          </a:prstGeom>
          <a:solidFill>
            <a:srgbClr val="16273F"/>
          </a:solidFill>
          <a:ln>
            <a:solidFill>
              <a:srgbClr val="267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4884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67DDE"/>
                </a:solidFill>
              </a:defRPr>
            </a:pPr>
            <a:r>
              <a:t>STATIC / BATCH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51760"/>
            <a:ext cx="293522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Census + CDC indicators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FEMA shelter registry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HHS emPOWER / hazard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33087"/>
            <a:ext cx="3337560" cy="1508760"/>
          </a:xfrm>
          <a:prstGeom prst="roundRect">
            <a:avLst/>
          </a:prstGeom>
          <a:solidFill>
            <a:srgbClr val="16273F"/>
          </a:solidFill>
          <a:ln>
            <a:solidFill>
              <a:srgbClr val="267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4288536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67DDE"/>
                </a:solidFill>
              </a:defRPr>
            </a:pPr>
            <a:r>
              <a:t>BIGQUERY 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791455"/>
            <a:ext cx="2935224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Curated views • scores • eligibility • data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2487168"/>
            <a:ext cx="3474720" cy="2743200"/>
          </a:xfrm>
          <a:prstGeom prst="roundRect">
            <a:avLst/>
          </a:prstGeom>
          <a:solidFill>
            <a:srgbClr val="16273F"/>
          </a:solidFill>
          <a:ln>
            <a:solidFill>
              <a:srgbClr val="3F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64261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FCDDC"/>
                </a:solidFill>
              </a:defRPr>
            </a:pPr>
            <a:r>
              <a:t>GOOGLE ADK + GEMINI 3.x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145536"/>
            <a:ext cx="3072384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Agent orchestrates custom Python tools, BigQuery queries, Maps grounding and Google Search.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Evidence → reasoning →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1993392"/>
            <a:ext cx="3337560" cy="1920240"/>
          </a:xfrm>
          <a:prstGeom prst="roundRect">
            <a:avLst/>
          </a:prstGeom>
          <a:solidFill>
            <a:srgbClr val="16273F"/>
          </a:solidFill>
          <a:ln>
            <a:solidFill>
              <a:srgbClr val="FFB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4884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BD5E"/>
                </a:solidFill>
              </a:defRPr>
            </a:pPr>
            <a:r>
              <a:t>DYNAMIC / ON-DEMAND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293522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Google Maps place grounding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Google Search for outreach leads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Named-facility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2" y="4133087"/>
            <a:ext cx="3337560" cy="1508760"/>
          </a:xfrm>
          <a:prstGeom prst="roundRect">
            <a:avLst/>
          </a:prstGeom>
          <a:solidFill>
            <a:srgbClr val="16273F"/>
          </a:solidFill>
          <a:ln>
            <a:solidFill>
              <a:srgbClr val="57D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288536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57D4A7"/>
                </a:solidFill>
              </a:defRPr>
            </a:pPr>
            <a:r>
              <a:t>DELIVERY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791455"/>
            <a:ext cx="2935224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F"/>
                </a:solidFill>
              </a:defRPr>
            </a:pPr>
            <a:r>
              <a:t>FastAPI → React / Leaflet dashboard • copilot • 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5072" y="3154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FCDDC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154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FCDDC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5897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A9BDD4"/>
                </a:solidFill>
              </a:defRPr>
            </a:pPr>
            <a:r>
              <a:t>Deployed components: Cloud Run + Vertex AI Agent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3FCDDC"/>
                </a:solidFill>
              </a:defRPr>
            </a:pPr>
            <a:r>
              <a:t>03 / AGENT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7FAFF"/>
                </a:solidFill>
              </a:defRPr>
            </a:pPr>
            <a:r>
              <a:t>How static + dynamic evidence becomes a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9BDD4"/>
                </a:solidFill>
              </a:defRPr>
            </a:pPr>
            <a:r>
              <a:t>The key differentiator: the agent does not simply summarize stored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D4"/>
                </a:solidFill>
              </a:defRPr>
            </a:pPr>
            <a:r>
              <a:t>SOURCE: github.com/rahmani-hossein/hurricane-evacuation  |  main @ f2316be3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830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3FCDDC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29968"/>
            <a:ext cx="3611880" cy="1755648"/>
          </a:xfrm>
          <a:prstGeom prst="roundRect">
            <a:avLst/>
          </a:prstGeom>
          <a:solidFill>
            <a:srgbClr val="16273F"/>
          </a:solidFill>
          <a:ln>
            <a:solidFill>
              <a:srgbClr val="267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85416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67DDE"/>
                </a:solidFill>
              </a:defRPr>
            </a:pPr>
            <a:r>
              <a:t>1 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88336"/>
            <a:ext cx="3209544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F"/>
                </a:solidFill>
              </a:defRPr>
            </a:pPr>
            <a:r>
              <a:t>BigQuery identifies high-risk census tracts and eligible registered shelters.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2029968"/>
            <a:ext cx="3611880" cy="1755648"/>
          </a:xfrm>
          <a:prstGeom prst="roundRect">
            <a:avLst/>
          </a:prstGeom>
          <a:solidFill>
            <a:srgbClr val="16273F"/>
          </a:solidFill>
          <a:ln>
            <a:solidFill>
              <a:srgbClr val="3F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3" y="2185416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FCDDC"/>
                </a:solidFill>
              </a:defRPr>
            </a:pPr>
            <a:r>
              <a:t>2  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3" y="2688336"/>
            <a:ext cx="3209544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F"/>
                </a:solidFill>
              </a:defRPr>
            </a:pPr>
            <a:r>
              <a:t>Custom tools calculate stranded score, access state A–D, shelter proximity and equity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75904" y="2029968"/>
            <a:ext cx="3611880" cy="1755648"/>
          </a:xfrm>
          <a:prstGeom prst="roundRect">
            <a:avLst/>
          </a:prstGeom>
          <a:solidFill>
            <a:srgbClr val="16273F"/>
          </a:solidFill>
          <a:ln>
            <a:solidFill>
              <a:srgbClr val="FFB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85416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BD5E"/>
                </a:solidFill>
              </a:defRPr>
            </a:pPr>
            <a:r>
              <a:t>3 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688336"/>
            <a:ext cx="3209544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F"/>
                </a:solidFill>
              </a:defRPr>
            </a:pPr>
            <a:r>
              <a:t>Agent requests Maps grounding for a named facility; Search supports organization discovery.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23360"/>
            <a:ext cx="3611880" cy="1755648"/>
          </a:xfrm>
          <a:prstGeom prst="roundRect">
            <a:avLst/>
          </a:prstGeom>
          <a:solidFill>
            <a:srgbClr val="16273F"/>
          </a:solidFill>
          <a:ln>
            <a:solidFill>
              <a:srgbClr val="57D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178808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57D4A7"/>
                </a:solidFill>
              </a:defRPr>
            </a:pPr>
            <a:r>
              <a:t>4  RECONCILE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681728"/>
            <a:ext cx="3209544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F"/>
                </a:solidFill>
              </a:defRPr>
            </a:pPr>
            <a:r>
              <a:t>Compare administrative record with grounded place details; flag address or status mismatches.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4023360"/>
            <a:ext cx="3611880" cy="1755648"/>
          </a:xfrm>
          <a:prstGeom prst="roundRect">
            <a:avLst/>
          </a:prstGeom>
          <a:solidFill>
            <a:srgbClr val="16273F"/>
          </a:solidFill>
          <a:ln>
            <a:solidFill>
              <a:srgbClr val="3F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8303" y="4178808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FCDDC"/>
                </a:solidFill>
              </a:defRPr>
            </a:pPr>
            <a:r>
              <a:t>5  RECOMMEND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3" y="4681728"/>
            <a:ext cx="3209544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F"/>
                </a:solidFill>
              </a:defRPr>
            </a:pPr>
            <a:r>
              <a:t>Return ranked planning actions, evidence, uncertainty and next human verification step.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971032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FFBD5E"/>
                </a:solidFill>
              </a:defRPr>
            </a:pPr>
            <a:r>
              <a:t>Human approval remains essential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3FCDDC"/>
                </a:solidFill>
              </a:defRPr>
            </a:pPr>
            <a:r>
              <a:t>04 / DECISION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7FAFF"/>
                </a:solidFill>
              </a:defRPr>
            </a:pPr>
            <a:r>
              <a:t>What the agent actually computes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9BDD4"/>
                </a:solidFill>
              </a:defRPr>
            </a:pPr>
            <a:r>
              <a:t>A tract-to-shelter workflow designed to turn data into operational planning priorities.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D4"/>
                </a:solidFill>
              </a:defRPr>
            </a:pPr>
            <a:r>
              <a:t>SOURCE: github.com/rahmani-hossein/hurricane-evacuation  |  main @ f2316be3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830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3FCDDC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566160" cy="3502152"/>
          </a:xfrm>
          <a:prstGeom prst="roundRect">
            <a:avLst/>
          </a:prstGeom>
          <a:solidFill>
            <a:srgbClr val="16273F"/>
          </a:solidFill>
          <a:ln>
            <a:solidFill>
              <a:srgbClr val="267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2140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67DDE"/>
                </a:solidFill>
              </a:defRPr>
            </a:pPr>
            <a:r>
              <a:t>RISK PRIORITIZATION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24328"/>
            <a:ext cx="31638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Lee County: stranded score combines percentile ranks for no vehicle, age 65+, disability and mobile homes.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Miami-Dade: mobility-proxy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965960"/>
            <a:ext cx="3566160" cy="3502152"/>
          </a:xfrm>
          <a:prstGeom prst="roundRect">
            <a:avLst/>
          </a:prstGeom>
          <a:solidFill>
            <a:srgbClr val="16273F"/>
          </a:solidFill>
          <a:ln>
            <a:solidFill>
              <a:srgbClr val="3F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12140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FCDDC"/>
                </a:solidFill>
              </a:defRPr>
            </a:pPr>
            <a:r>
              <a:t>SHELTER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624328"/>
            <a:ext cx="31638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Pre-landfall usage; surge exclusion; distance-based candidates; recorded capacity, generator and wheelchair fields.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A–D access-state classification in Lee County.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965960"/>
            <a:ext cx="3566160" cy="3502152"/>
          </a:xfrm>
          <a:prstGeom prst="roundRect">
            <a:avLst/>
          </a:prstGeom>
          <a:solidFill>
            <a:srgbClr val="16273F"/>
          </a:solidFill>
          <a:ln>
            <a:solidFill>
              <a:srgbClr val="57D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212140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57D4A7"/>
                </a:solidFill>
              </a:defRPr>
            </a:pPr>
            <a:r>
              <a:t>ACTIONABLE FLAGS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624328"/>
            <a:ext cx="31638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A: accessible on record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B: verify missing ADA data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C: recorded access gap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D: no candidate within threshold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Inspect • plan transport • escalate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8064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BD5E"/>
                </a:solidFill>
              </a:defRPr>
            </a:pPr>
            <a:r>
              <a:t>Critical: UNRECORDED ≠ NO  |  Straight-line distance ≠ drive time  |  Registered capacity ≠ available capacity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3FCDDC"/>
                </a:solidFill>
              </a:defRPr>
            </a:pPr>
            <a:r>
              <a:t>05 / WORKING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7FAFF"/>
                </a:solidFill>
              </a:defRPr>
            </a:pPr>
            <a:r>
              <a:t>Command center: from question to readiness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9BDD4"/>
                </a:solidFill>
              </a:defRPr>
            </a:pPr>
            <a:r>
              <a:t>React dashboard and FastAPI endpoints expose county views and AI-assisted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D4"/>
                </a:solidFill>
              </a:defRPr>
            </a:pPr>
            <a:r>
              <a:t>SOURCE: github.com/rahmani-hossein/hurricane-evacuation  |  main @ f2316be3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830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3FCDDC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29968"/>
            <a:ext cx="5166360" cy="3538728"/>
          </a:xfrm>
          <a:prstGeom prst="roundRect">
            <a:avLst/>
          </a:prstGeom>
          <a:solidFill>
            <a:srgbClr val="16273F"/>
          </a:solidFill>
          <a:ln>
            <a:solidFill>
              <a:srgbClr val="3F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85416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FCDDC"/>
                </a:solidFill>
              </a:defRPr>
            </a:pPr>
            <a:r>
              <a:t>USER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88336"/>
            <a:ext cx="4764024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F"/>
                </a:solidFill>
              </a:defRPr>
            </a:pPr>
            <a:r>
              <a:t>County selection: Lee / Miami-Dade</a:t>
            </a:r>
          </a:p>
          <a:p>
            <a:pPr>
              <a:spcAft>
                <a:spcPts val="900"/>
              </a:spcAft>
              <a:defRPr sz="1700" b="0">
                <a:solidFill>
                  <a:srgbClr val="F7FAFF"/>
                </a:solidFill>
              </a:defRPr>
            </a:pPr>
            <a:r>
              <a:t>Interactive Leaflet shelter map</a:t>
            </a:r>
          </a:p>
          <a:p>
            <a:pPr>
              <a:spcAft>
                <a:spcPts val="900"/>
              </a:spcAft>
              <a:defRPr sz="1700" b="0">
                <a:solidFill>
                  <a:srgbClr val="F7FAFF"/>
                </a:solidFill>
              </a:defRPr>
            </a:pPr>
            <a:r>
              <a:t>Readiness metrics and briefing panels</a:t>
            </a:r>
          </a:p>
          <a:p>
            <a:pPr>
              <a:spcAft>
                <a:spcPts val="900"/>
              </a:spcAft>
              <a:defRPr sz="1700" b="0">
                <a:solidFill>
                  <a:srgbClr val="F7FAFF"/>
                </a:solidFill>
              </a:defRPr>
            </a:pPr>
            <a:r>
              <a:t>Text copilot + voice interface</a:t>
            </a:r>
          </a:p>
          <a:p>
            <a:pPr>
              <a:spcAft>
                <a:spcPts val="900"/>
              </a:spcAft>
              <a:defRPr sz="1700" b="0">
                <a:solidFill>
                  <a:srgbClr val="F7FAFF"/>
                </a:solidFill>
              </a:defRPr>
            </a:pPr>
            <a:r>
              <a:t>Grounding-source links / attribution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29968"/>
            <a:ext cx="5486400" cy="3538728"/>
          </a:xfrm>
          <a:prstGeom prst="roundRect">
            <a:avLst/>
          </a:prstGeom>
          <a:solidFill>
            <a:srgbClr val="16273F"/>
          </a:solidFill>
          <a:ln>
            <a:solidFill>
              <a:srgbClr val="57D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218541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57D4A7"/>
                </a:solidFill>
              </a:defRPr>
            </a:pPr>
            <a:r>
              <a:t>REQUEST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2688336"/>
            <a:ext cx="5084064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1. Frontend fetches /api/lee/readiness or /api/miami-dade/readiness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2. FastAPI reads BigQuery gold views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3. Copilot submits /api/copilot/chat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4. Agent / Gemini can enrich response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5. Planner receives priorities and caveats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7972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BD5E"/>
                </a:solidFill>
              </a:defRPr>
            </a:pPr>
            <a:r>
              <a:t>Demo integrity: frontend includes mock-data fallback; confirm LIVE indicator and API connectivity before claiming live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3FCDDC"/>
                </a:solidFill>
              </a:defRPr>
            </a:pPr>
            <a:r>
              <a:t>06 / 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7FAFF"/>
                </a:solidFill>
              </a:defRPr>
            </a:pPr>
            <a:r>
              <a:t>Value delivered — and the next validation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A9BDD4"/>
                </a:solidFill>
              </a:defRPr>
            </a:pPr>
            <a:r>
              <a:t>From static lists to a repeatable, evidence-aware readiness planning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A9BDD4"/>
                </a:solidFill>
              </a:defRPr>
            </a:pPr>
            <a:r>
              <a:t>SOURCE: github.com/rahmani-hossein/hurricane-evacuation  |  main @ f2316be3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830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3FCDDC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538728" cy="3566160"/>
          </a:xfrm>
          <a:prstGeom prst="roundRect">
            <a:avLst/>
          </a:prstGeom>
          <a:solidFill>
            <a:srgbClr val="16273F"/>
          </a:solidFill>
          <a:ln>
            <a:solidFill>
              <a:srgbClr val="57D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67128"/>
            <a:ext cx="3172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57D4A7"/>
                </a:solidFill>
              </a:defRPr>
            </a:pPr>
            <a:r>
              <a:t>VALUE FOR PLANNERS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70048"/>
            <a:ext cx="3136392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Focus scarce inspection resources on high-risk areas.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Identify transport gaps earlier.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Make missing shelter data visible, not invisible.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11680"/>
            <a:ext cx="3538728" cy="3566160"/>
          </a:xfrm>
          <a:prstGeom prst="roundRect">
            <a:avLst/>
          </a:prstGeom>
          <a:solidFill>
            <a:srgbClr val="16273F"/>
          </a:solidFill>
          <a:ln>
            <a:solidFill>
              <a:srgbClr val="3F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167128"/>
            <a:ext cx="3172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FCDDC"/>
                </a:solidFill>
              </a:defRPr>
            </a:pPr>
            <a:r>
              <a:t>WHY AI ADDS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670048"/>
            <a:ext cx="3136392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Combines structured county evidence with on-demand place checks.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Explains why a candidate needs verification.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Turns analysis into a concise action brief.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011680"/>
            <a:ext cx="3538728" cy="3566160"/>
          </a:xfrm>
          <a:prstGeom prst="roundRect">
            <a:avLst/>
          </a:prstGeom>
          <a:solidFill>
            <a:srgbClr val="16273F"/>
          </a:solidFill>
          <a:ln>
            <a:solidFill>
              <a:srgbClr val="FFB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2167128"/>
            <a:ext cx="3172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BD5E"/>
                </a:solidFill>
              </a:defRPr>
            </a:pPr>
            <a:r>
              <a:t>BEFORE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670048"/>
            <a:ext cx="3136392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Verify Maps grounding changes actual recommendations.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Test endpoint / model configuration and live data.</a:t>
            </a: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F7FAFF"/>
                </a:solidFill>
              </a:defRPr>
            </a:pPr>
            <a:r>
              <a:t>Validate accessibility, capacity, routing and county sign-off.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843016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7FAFF"/>
                </a:solidFill>
              </a:defRPr>
            </a:pPr>
            <a:r>
              <a:t>Bottom line: identify who may be stranded, where help might exist, and what to fix before landfall.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